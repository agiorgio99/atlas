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MFA vs SOFA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2860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Phoneme Alignment Comparison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108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BDEFB"/>
                </a:solidFill>
              </a:rPr>
              <a:t>GT-Singer Dataset  ·  EN-Alto-1  ·  EN-Alto-2  ·  EN-Tenor-1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118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Metrics: Boundary MAE  ·  TBE@20ms  ·  TBE@50ms  ·  IoU  ·  Recall  · 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760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</a:rPr>
              <a:t>Music Information Retrieval  ·  UPF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What is phoneme alignment?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Forced alignment assigns precise start/end timestamps to each phoneme in a sung utterance, given an audio file and a phoneme transcript. Used in music production, lyrics synchronisation, and singing synthesis.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Why is singing harder than speech?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Sustained vowels stretch phoneme durations 5–10× beyond speech norms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27248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Pitch variation alters spectral cues that HMM-based aligners rely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65576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Speech-trained models (MFA) have never seen singing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03904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Energy troughs occur mid-phoneme during vibrato, not at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634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Can SOFA (a singing-trained deep learning aligner) outperform speech-trained MFA on the GT-Singer dataset, across Boundary MAE and TBE metrics?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Systems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196F3"/>
                </a:solidFill>
              </a:rPr>
              <a:t>MFA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Montreal Forced Aligner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Speech-trained HMM acoustic model (trained on LibriSpeech)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01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Viterbi decoding on MFA corpus WAV+LAB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768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IPA phoneme intervals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523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Covers all 747 GT utterances (100% coverage)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8595360" cy="2286000"/>
          </a:xfrm>
          <a:prstGeom prst="rect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C27B0"/>
                </a:solidFill>
              </a:rPr>
              <a:t>SOFA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Singing-Oriented Forced Aligner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86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Transformer-based deep learning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361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Trained on singing data with CMU phoneme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371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Matched to GT using MD5 audio fingerprinting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126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Covers 485 GT utterances (65% coverage)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All metrics compare system output against GT-Singer ground-truth TextGrids at phoneme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859536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55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Boundary MAE (ms)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55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Lower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7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Mean |predicted − GT| averaged over start and end times of each matched phoneme. Primary ranking metric.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14600"/>
            <a:ext cx="859536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9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TBE@20ms / TBE@50ms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94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Lower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Total Boundary Error rate: fraction of boundaries with |error| &gt; 20 ms or 50 ms. Captures how often the aligner makes unacceptably large mistakes.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859536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838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Interval IoU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838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Higher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587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Intersection-over-Union of predicted vs GT phoneme interval. Rewards both correct timing AND correct duration.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43400"/>
            <a:ext cx="859536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98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Label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3982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Higher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Fraction of GT phonemes successfully matched by the aligner. Low recall = missed phonemes or deletions.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57800"/>
            <a:ext cx="859536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126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Label 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126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Higher 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875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Fraction of aligner phonemes that match a GT phoneme. Low precision = spurious insertions.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Overall Results — All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2471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124712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24712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Bdry MAE ↓
(ms)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12471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TBE@20ms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124712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TBE@50ms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124712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IoU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124712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Recall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124712"/>
            <a:ext cx="960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Prec.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27632"/>
            <a:ext cx="8595360" cy="8686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8105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27B0"/>
                </a:solidFill>
              </a:rPr>
              <a:t>SOFA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18105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105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48.26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105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81051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25.2%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81051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0.6365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81051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0.7368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181051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0.7506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33472"/>
            <a:ext cx="8595360" cy="868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8163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MFA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28163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8163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49.29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8163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81635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17.6%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81635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0.6832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81635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0.7598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81635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0.8104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3749039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C27B0"/>
                </a:solidFill>
              </a:rPr>
              <a:t>★  Best Boundary MAE: SOFA  (48.26 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2062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96F3"/>
                </a:solidFill>
              </a:rPr>
              <a:t>★  Best TBE@20ms: MFA Only  (40.0% boundaries &gt; 20ms)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Boundary MAE — Overall &amp; Per-Singer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Total Boundary Error (TBE) — Fraction of Boundaries with Large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Interval IoU &amp; Label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Singer-Level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247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Singer /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124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Bdry MAE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24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TBE@20ms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1247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TBE@50ms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12471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IoU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1247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Recall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55448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EN-Alto-1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56231"/>
            <a:ext cx="859536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89280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MFA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892807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892807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48.3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892807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40.6%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89280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17.6%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892807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0.6811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89280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0.7552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40279"/>
            <a:ext cx="859536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276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27B0"/>
                </a:solidFill>
              </a:rPr>
              <a:t>SOFA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27685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213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2768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52.9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2768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52.1%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276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27.3%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2768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0.6284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276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0.7129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71576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EN-Alto-2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17520"/>
            <a:ext cx="859536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0540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MFA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0540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05409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37.9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05409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36.9%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0540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14.3%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05409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0.7022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0540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0.7785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401568"/>
            <a:ext cx="859536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43814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27B0"/>
                </a:solidFill>
              </a:rPr>
              <a:t>SOFA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4381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34381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49.0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34381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34381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26.7%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43814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0.6291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4381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0.7327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3877055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EN-Tenor-1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178807"/>
            <a:ext cx="859536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215383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27B0"/>
                </a:solidFill>
              </a:rPr>
              <a:t>SOFA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421538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4215383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43.2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4215383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47.3%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421538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22.4%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4215383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0.6480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21538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0.7627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562855"/>
            <a:ext cx="859536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59943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MFA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459943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459943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60.0 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459943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39.6%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459943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19.6%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4599431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0.6806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459943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0.7679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11887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27B0"/>
                </a:solidFill>
              </a:rPr>
              <a:t>1.  SOFA wins on Boundary MAE (48.3 ms vs 49.3 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Singing-trained model achieves lower mean error overall. On EN-Tenor-1, advantage grows to 16.8 ms (43.2 vs 60.0 ms) — largest gain on sustained pitched phonation.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14600"/>
            <a:ext cx="85953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2.  MFA wins on TBE: fewer catastrophic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3580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MFA: 40.0% boundaries &gt; 20ms vs SOFA: 49.7%. At 50ms: 17.6% vs 25.2%. MFA is more consistent; SOFA has more frequent large errors.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8595360" cy="11887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3.  MFA wins on IoU (0.683 vs 0.636) and Recall (0.760 vs 0.737)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6168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MFA better preserves phoneme interval shape and duration. Higher coverage (747 vs 485 items) also makes it more reliable across all singer types.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166359"/>
            <a:ext cx="85953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257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4.  Verdict: SOFA for timing precision; MFA for reliability and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8756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Use SOFA as primary aligner (especially tenor voices). MFA as fallback for items SOFA cannot process. Report both MAE and TBE.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MIR Final Project 2026  ·  MFA vs SOFA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SOFA achieves lower Boundary MAE overall; MFA achieves lower TBE (fewer large errors).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Singing-trained SOFA is clearly superior for tenor/sustained voices (16.8 ms advantage).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1401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MFA provides full 100% coverage; SOFA covers only 65% of this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980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Both metrics (MAE and TBE) are needed: they reveal complementary failure modes.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→  Deploy SOFA as primary aligner for singing forced alignment, especially for tenor voices.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988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→  Use MFA as fallback for utterances not covered by SOFA.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8289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→  Always report both MAE and TBE—MAE alone can mask frequent large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669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→  Fine-tune SOFA on GT-Singer for potential 10–20 ms further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EFB"/>
                </a:solidFill>
              </a:rPr>
              <a:t>MIR Final Project  ·  UPF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0233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</a:rPr>
              <a:t>MFA Only  vs  SOFA  —  GT-Singer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